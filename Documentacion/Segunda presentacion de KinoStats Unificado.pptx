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9"/>
  </p:notesMasterIdLst>
  <p:sldIdLst>
    <p:sldId id="256" r:id="rId3"/>
    <p:sldId id="257" r:id="rId4"/>
    <p:sldId id="258" r:id="rId5"/>
    <p:sldId id="286" r:id="rId6"/>
    <p:sldId id="284" r:id="rId7"/>
    <p:sldId id="285" r:id="rId8"/>
    <p:sldId id="277" r:id="rId9"/>
    <p:sldId id="279" r:id="rId10"/>
    <p:sldId id="280" r:id="rId11"/>
    <p:sldId id="278" r:id="rId12"/>
    <p:sldId id="282" r:id="rId13"/>
    <p:sldId id="283" r:id="rId14"/>
    <p:sldId id="259" r:id="rId15"/>
    <p:sldId id="260" r:id="rId16"/>
    <p:sldId id="261" r:id="rId17"/>
    <p:sldId id="262" r:id="rId18"/>
  </p:sldIdLst>
  <p:sldSz cx="18288000" cy="10287000"/>
  <p:notesSz cx="6858000" cy="9144000"/>
  <p:embeddedFontLst>
    <p:embeddedFont>
      <p:font typeface="KoHo" panose="020B0604020202020204" charset="-34"/>
      <p:regular r:id="rId20"/>
      <p:bold r:id="rId21"/>
      <p:italic r:id="rId22"/>
      <p:boldItalic r:id="rId23"/>
    </p:embeddedFont>
    <p:embeddedFont>
      <p:font typeface="Paytone One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SnSCJiwfHOc/IOOWNvvb/P9U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237F9ED-5AA3-63E0-83B4-FE70A49F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3641428A-77BC-F357-C3A3-4E51DB160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9C26128-43CC-3279-730D-FD83E6455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847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7700AF1-1A7A-1008-AEC7-C8F4815B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A4A988AE-77D5-9440-C18E-A223E8F74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DFEF6B4-DF33-DF4C-F323-AAFC65811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27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D56408E-EFDF-C1DA-0A45-3D3B9938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57CA129-9921-EB43-366C-11A41F288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B4AE189C-B2D0-2887-5775-FF8C76DC5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1842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11EBDDF-F98D-B746-3D2F-FB2D6BE6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B07B74C5-B87F-01AC-09BE-5F7AEF3C4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BF97929-4D58-1DFA-391D-BB3021AB23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957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FF3C80B-2647-910D-564D-AB86470D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FF7A935A-2751-1EF7-7284-E772143FB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B089EA4-2061-C5A9-CE09-332696C12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935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BBB70DF-E50A-90E8-9A2C-43EF4990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4DEEFD36-F067-C522-0348-BCF60D5AD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E17E1CA-0D67-4BD5-CF86-19F44DDAE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8771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99E2D46F-48FC-8B57-0070-E19798A4A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94C70144-3FDA-DCD2-72EF-75B5DD731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B1C09BF9-90E3-FF89-E790-2D621951A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6589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C04F8E1-C9C4-84BA-A7AA-6C636861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A276C7B0-3C87-EE14-F2AA-26A72864F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9691703-486F-7BBC-76F5-AB0FA1633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997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210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238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5879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13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861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9119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928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914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76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105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90992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/>
        </p:nvSpPr>
        <p:spPr>
          <a:xfrm>
            <a:off x="3058062" y="2267976"/>
            <a:ext cx="121719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0"/>
              <a:buFont typeface="Arial"/>
              <a:buNone/>
            </a:pPr>
            <a:r>
              <a:rPr lang="es-MX" sz="10500" b="0" i="0" u="none" strike="noStrike" cap="none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KinoStats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584404" y="2288357"/>
            <a:ext cx="2027306" cy="1533380"/>
          </a:xfrm>
          <a:custGeom>
            <a:avLst/>
            <a:gdLst/>
            <a:ahLst/>
            <a:cxnLst/>
            <a:rect l="l" t="t" r="r" b="b"/>
            <a:pathLst>
              <a:path w="2027306" h="1533380" extrusionOk="0">
                <a:moveTo>
                  <a:pt x="0" y="0"/>
                </a:moveTo>
                <a:lnTo>
                  <a:pt x="2027306" y="0"/>
                </a:lnTo>
                <a:lnTo>
                  <a:pt x="2027306" y="1533381"/>
                </a:lnTo>
                <a:lnTo>
                  <a:pt x="0" y="1533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5059650" y="5925399"/>
            <a:ext cx="67605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C1C1C"/>
                </a:solidFill>
                <a:latin typeface="KoHo"/>
                <a:ea typeface="KoHo"/>
                <a:cs typeface="KoHo"/>
                <a:sym typeface="KoHo"/>
              </a:rPr>
              <a:t>Integrantes: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C1C1C"/>
                </a:solidFill>
                <a:latin typeface="KoHo"/>
                <a:ea typeface="KoHo"/>
                <a:cs typeface="KoHo"/>
                <a:sym typeface="KoHo"/>
              </a:rPr>
              <a:t>-Alfonso Luna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C1C1C"/>
                </a:solidFill>
                <a:latin typeface="KoHo"/>
                <a:ea typeface="KoHo"/>
                <a:cs typeface="KoHo"/>
                <a:sym typeface="KoHo"/>
              </a:rPr>
              <a:t>-Felipe Becerra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C1C1C"/>
                </a:solidFill>
                <a:latin typeface="KoHo"/>
                <a:ea typeface="KoHo"/>
                <a:cs typeface="KoHo"/>
                <a:sym typeface="KoHo"/>
              </a:rPr>
              <a:t>-Ivan Del Pino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C1C1C"/>
                </a:solidFill>
                <a:latin typeface="KoHo"/>
                <a:ea typeface="KoHo"/>
                <a:cs typeface="KoHo"/>
                <a:sym typeface="KoHo"/>
              </a:rPr>
              <a:t>Ramo: Taller aplicado de programación</a:t>
            </a:r>
            <a:endParaRPr sz="2000" b="0" i="0" u="none" strike="noStrike" cap="none">
              <a:solidFill>
                <a:srgbClr val="1C1C1C"/>
              </a:solidFill>
              <a:latin typeface="KoHo"/>
              <a:ea typeface="KoHo"/>
              <a:cs typeface="KoHo"/>
              <a:sym typeface="KoH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C1C1C"/>
                </a:solidFill>
                <a:latin typeface="KoHo"/>
                <a:ea typeface="KoHo"/>
                <a:cs typeface="KoHo"/>
                <a:sym typeface="KoHo"/>
              </a:rPr>
              <a:t>Seccion: 002_V  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50174" y="3102112"/>
            <a:ext cx="7066238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82350" y="1869646"/>
            <a:ext cx="3795801" cy="999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234237">
            <a:off x="10034814" y="3311131"/>
            <a:ext cx="11544564" cy="290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2"/>
          <p:cNvGrpSpPr/>
          <p:nvPr/>
        </p:nvGrpSpPr>
        <p:grpSpPr>
          <a:xfrm>
            <a:off x="0" y="-360274"/>
            <a:ext cx="18288000" cy="3473336"/>
            <a:chOff x="0" y="-66675"/>
            <a:chExt cx="4816593" cy="914788"/>
          </a:xfrm>
        </p:grpSpPr>
        <p:sp>
          <p:nvSpPr>
            <p:cNvPr id="90" name="Google Shape;90;p2"/>
            <p:cNvSpPr/>
            <p:nvPr/>
          </p:nvSpPr>
          <p:spPr>
            <a:xfrm>
              <a:off x="0" y="0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 txBox="1"/>
            <p:nvPr/>
          </p:nvSpPr>
          <p:spPr>
            <a:xfrm>
              <a:off x="0" y="-66675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2"/>
          <p:cNvSpPr txBox="1"/>
          <p:nvPr/>
        </p:nvSpPr>
        <p:spPr>
          <a:xfrm>
            <a:off x="482873" y="874388"/>
            <a:ext cx="1349106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DFC"/>
                </a:solidFill>
                <a:latin typeface="Paytone One"/>
                <a:ea typeface="Paytone One"/>
                <a:cs typeface="Paytone One"/>
                <a:sym typeface="Paytone One"/>
              </a:rPr>
              <a:t>DESCRIPCION DE LA PROBLEMATICA 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900953" y="4262890"/>
            <a:ext cx="977601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El éxito de "Spotify Wrapped" demostró el enorme interés de los usuarios por ver y compartir sus hábitos de consumo. Esta tendencia ya se ha expandido con gran éxito hacia los videojuegos y la lectura.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Sin embargo, el mundo del cine se ha quedado atrás. Actualmente no existe una plataforma que aproveche este potencial estadístico para los cinéfilos, y es en este nicho desatendido donde se posiciona nuestra solución.</a:t>
            </a:r>
            <a:endParaRPr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52213" y="4262890"/>
            <a:ext cx="2843454" cy="280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54065" y="4094567"/>
            <a:ext cx="3001540" cy="375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9199798">
            <a:off x="-2425850" y="7159019"/>
            <a:ext cx="11907952" cy="3364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3"/>
          <p:cNvGrpSpPr/>
          <p:nvPr/>
        </p:nvGrpSpPr>
        <p:grpSpPr>
          <a:xfrm>
            <a:off x="0" y="-353672"/>
            <a:ext cx="18288000" cy="4344646"/>
            <a:chOff x="0" y="-66675"/>
            <a:chExt cx="4816593" cy="1015878"/>
          </a:xfrm>
        </p:grpSpPr>
        <p:sp>
          <p:nvSpPr>
            <p:cNvPr id="102" name="Google Shape;102;p3"/>
            <p:cNvSpPr/>
            <p:nvPr/>
          </p:nvSpPr>
          <p:spPr>
            <a:xfrm>
              <a:off x="0" y="0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 txBox="1"/>
            <p:nvPr/>
          </p:nvSpPr>
          <p:spPr>
            <a:xfrm>
              <a:off x="0" y="-66675"/>
              <a:ext cx="4816593" cy="1015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3"/>
          <p:cNvSpPr txBox="1"/>
          <p:nvPr/>
        </p:nvSpPr>
        <p:spPr>
          <a:xfrm>
            <a:off x="508273" y="1356986"/>
            <a:ext cx="1349106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DFC"/>
                </a:solidFill>
                <a:latin typeface="Paytone One"/>
                <a:ea typeface="Paytone One"/>
                <a:cs typeface="Paytone One"/>
                <a:sym typeface="Paytone One"/>
              </a:rPr>
              <a:t>NUESTRA SOLUCION  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00952" y="4262891"/>
            <a:ext cx="1086522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Nuestra solución para KinoStats se enfoca en resolver la necesidad de llevar un seguimiento detallado y analítico de los hábitos de consumo cinematográfico. Para lograrlo, planteamos un ecosistema tecnológico completo (móvil y servidor) que va mucho más allá de un simple registro de "visto" o "no visto", ofreciendo una experiencia centrada en los datos, la privacidad y la personalización.</a:t>
            </a:r>
            <a:endParaRPr sz="28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2532660" y="3955125"/>
            <a:ext cx="4854388" cy="35886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58598" y="3990974"/>
            <a:ext cx="6372225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38749">
            <a:off x="14393336" y="-288038"/>
            <a:ext cx="2151532" cy="358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88902">
            <a:off x="12850651" y="210964"/>
            <a:ext cx="2530149" cy="281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7280FD58-1F18-176B-D9A0-B3E4BDFC2788}"/>
              </a:ext>
            </a:extLst>
          </p:cNvPr>
          <p:cNvGrpSpPr/>
          <p:nvPr/>
        </p:nvGrpSpPr>
        <p:grpSpPr>
          <a:xfrm>
            <a:off x="0" y="-932666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BFB73D7D-F7DA-D50E-4844-F08D79265B53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98FD3513-0039-5BE0-92ED-AB59E3629381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1F954B04-67A8-C438-1E27-1C40537AA8A0}"/>
              </a:ext>
            </a:extLst>
          </p:cNvPr>
          <p:cNvSpPr txBox="1"/>
          <p:nvPr/>
        </p:nvSpPr>
        <p:spPr>
          <a:xfrm>
            <a:off x="1353455" y="653252"/>
            <a:ext cx="9575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CARTA GANTT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Google Shape;188;p18">
            <a:extLst>
              <a:ext uri="{FF2B5EF4-FFF2-40B4-BE49-F238E27FC236}">
                <a16:creationId xmlns:a16="http://schemas.microsoft.com/office/drawing/2014/main" id="{A27F4292-772E-C592-CC40-0633646DD7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97339">
            <a:off x="15014866" y="-66390"/>
            <a:ext cx="1797331" cy="181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46D719-B3F2-FE2D-20B2-9591603F8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3" y="2373491"/>
            <a:ext cx="1518285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ADDB5E9A-AF9A-0F1F-9C19-F8895944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4DE07F55-6A40-19EF-2E2C-B97ED6A29D45}"/>
              </a:ext>
            </a:extLst>
          </p:cNvPr>
          <p:cNvGrpSpPr/>
          <p:nvPr/>
        </p:nvGrpSpPr>
        <p:grpSpPr>
          <a:xfrm>
            <a:off x="0" y="-874608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839945F8-EBEF-3B10-21B2-1A4E0CE38F0B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A1292C00-E994-480F-AE7D-5C5383C867C2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0E0EA957-6CC3-6BEC-EFEE-E26CC04B0EDC}"/>
              </a:ext>
            </a:extLst>
          </p:cNvPr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FUNCIONALIADADES BASE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474;p30">
            <a:extLst>
              <a:ext uri="{FF2B5EF4-FFF2-40B4-BE49-F238E27FC236}">
                <a16:creationId xmlns:a16="http://schemas.microsoft.com/office/drawing/2014/main" id="{1B763511-F7DA-29A1-684F-1097481012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6114" y="-1"/>
            <a:ext cx="2255224" cy="2031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B7887E4-07E7-838E-99B8-AD2B8A726D2C}"/>
              </a:ext>
            </a:extLst>
          </p:cNvPr>
          <p:cNvSpPr txBox="1"/>
          <p:nvPr/>
        </p:nvSpPr>
        <p:spPr>
          <a:xfrm>
            <a:off x="917761" y="3960037"/>
            <a:ext cx="105694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Autenticación y Seguridad (Auth):</a:t>
            </a:r>
            <a:endParaRPr kumimoji="0" lang="es-MX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Registro de nuevos usuarios e inicio de sesión seguro.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Flujos completos de recuperación de cuenta y restablecimiento de contraseña (integrado con un servicio de correo electrónico).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Gestión de Perfil de Usuario:</a:t>
            </a:r>
            <a:endParaRPr kumimoji="0" lang="es-MX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Visualización y edición de los detalles del usuario.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Cambio y actualización de credenciales (contraseñas).</a:t>
            </a:r>
          </a:p>
        </p:txBody>
      </p:sp>
    </p:spTree>
    <p:extLst>
      <p:ext uri="{BB962C8B-B14F-4D97-AF65-F5344CB8AC3E}">
        <p14:creationId xmlns:p14="http://schemas.microsoft.com/office/powerpoint/2010/main" val="2164594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A9CF00BC-C4EF-B131-AE3B-12E4CC86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9A1CA56A-A5BC-6C5B-0A7D-6F3639F665C2}"/>
              </a:ext>
            </a:extLst>
          </p:cNvPr>
          <p:cNvGrpSpPr/>
          <p:nvPr/>
        </p:nvGrpSpPr>
        <p:grpSpPr>
          <a:xfrm>
            <a:off x="0" y="-874608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45B5EE47-50ED-C2AC-06EB-E23EA22BAF85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76505929-CAE0-09A2-2D5D-CD017FD6B754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568A6124-0CFB-90FF-8B5A-2824D82AFCB9}"/>
              </a:ext>
            </a:extLst>
          </p:cNvPr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FUNCIONALIADES DE NEGOCIO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188;p18">
            <a:extLst>
              <a:ext uri="{FF2B5EF4-FFF2-40B4-BE49-F238E27FC236}">
                <a16:creationId xmlns:a16="http://schemas.microsoft.com/office/drawing/2014/main" id="{44833489-9480-9B54-2B7A-917AD04474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97339">
            <a:off x="15468042" y="43891"/>
            <a:ext cx="1797331" cy="18193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2982FED-D82C-5611-878F-E9F324ADDED9}"/>
              </a:ext>
            </a:extLst>
          </p:cNvPr>
          <p:cNvSpPr txBox="1"/>
          <p:nvPr/>
        </p:nvSpPr>
        <p:spPr>
          <a:xfrm>
            <a:off x="333825" y="2431549"/>
            <a:ext cx="15184081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Exploración y Catálogo de Películas: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Búsqueda interactiva:</a:t>
            </a: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 Capacidad de buscar películas dentro de una base de datos amplia (soportada por la integración con la API externa de TMDB).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Detalle enriquecido:</a:t>
            </a: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 Fichas de películas que muestran información detallada como sinopsis, géneros, países de origen, </a:t>
            </a:r>
            <a:r>
              <a:rPr kumimoji="0" lang="es-MX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pósters</a:t>
            </a: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 y los créditos de las personas involucradas (elenco, directores, etc.).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Bitácora de Visualizaciones (Logs):</a:t>
            </a: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El usuario puede registrar ("</a:t>
            </a:r>
            <a:r>
              <a:rPr kumimoji="0" lang="es-MX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loggear</a:t>
            </a: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") cuándo ha visto una película.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Posibilidad de asignar calificaciones personalizadas a las visualizaciones y consultar el historial completo de la bitácora.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Gestión de Listas Personalizadas (Movie </a:t>
            </a:r>
            <a:r>
              <a:rPr kumimoji="0" lang="es-MX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Lists</a:t>
            </a: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Creación y administración de agrupaciones personalizadas de películas (por ejemplo, "Favoritas", "Para ver después", etc.).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Gestión de elementos dentro de cada lista (agregar o eliminar películas).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Análisis y Estadísticas de Consumo (Stats):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Generación de métricas detalladas sobre los hábitos de visualización del usuario.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Visualización de datos en la app:</a:t>
            </a: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 Gráficos interactivos de barra, línea y pastel que analizan las películas vistas por década de lanzamiento, géneros más frecuentes, distribución de las calificaciones otorgadas y países de origen de las obras.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Dashboard</a:t>
            </a: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 de Inicio (Home):</a:t>
            </a: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Ho" panose="020B0604020202020204" charset="-34"/>
              <a:cs typeface="KoHo" panose="020B0604020202020204" charset="-34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Ho" panose="020B0604020202020204" charset="-34"/>
                <a:cs typeface="KoHo" panose="020B0604020202020204" charset="-34"/>
                <a:sym typeface="Arial"/>
              </a:rPr>
              <a:t>Un panel de control principal que resume la actividad del usuario, mostrando vistas rápidas como la "Última película vista" y un resumen general de sus interacciones con el sistema</a:t>
            </a: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20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F6D56F8F-96FC-6516-D164-842CEB38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1133E05F-AFB2-D3E3-AF2B-C522CAD09212}"/>
              </a:ext>
            </a:extLst>
          </p:cNvPr>
          <p:cNvGrpSpPr/>
          <p:nvPr/>
        </p:nvGrpSpPr>
        <p:grpSpPr>
          <a:xfrm>
            <a:off x="0" y="-932666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38F6FB36-2A0E-34EF-41D9-92E496A52678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17749C05-13C0-7552-C09F-C5838078EEBD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E7F598E7-639D-DEB6-3174-8E74C84AED8E}"/>
              </a:ext>
            </a:extLst>
          </p:cNvPr>
          <p:cNvSpPr txBox="1"/>
          <p:nvPr/>
        </p:nvSpPr>
        <p:spPr>
          <a:xfrm>
            <a:off x="609600" y="462001"/>
            <a:ext cx="147465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DIAGRAMA ENTIDAD-RELACIÓN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474;p30">
            <a:extLst>
              <a:ext uri="{FF2B5EF4-FFF2-40B4-BE49-F238E27FC236}">
                <a16:creationId xmlns:a16="http://schemas.microsoft.com/office/drawing/2014/main" id="{B5972EC1-EF36-89DF-720B-BD00FA5EEC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6114" y="0"/>
            <a:ext cx="2255224" cy="203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F954826-E7FA-8328-3759-7B1FB797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417" y="2373491"/>
            <a:ext cx="10480815" cy="749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2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CDDA99A9-21CB-F9B0-6084-2FDA891A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4E41AC44-A145-C1C4-58A1-C36B88C1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874" y="-38819"/>
            <a:ext cx="14500526" cy="103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1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B8C89700-87E7-7392-FEA4-04869AD2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CBEFF8FB-B2A8-5E63-CA13-36274F736B74}"/>
              </a:ext>
            </a:extLst>
          </p:cNvPr>
          <p:cNvGrpSpPr/>
          <p:nvPr/>
        </p:nvGrpSpPr>
        <p:grpSpPr>
          <a:xfrm>
            <a:off x="0" y="-932666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551D3687-1080-EA79-4B72-3179A2AFFE9C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D4E15DCA-3AA5-1CDE-E23C-72FAE5A6A9BE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863095AD-3627-A0F4-CBCD-E424D8E696D3}"/>
              </a:ext>
            </a:extLst>
          </p:cNvPr>
          <p:cNvSpPr txBox="1"/>
          <p:nvPr/>
        </p:nvSpPr>
        <p:spPr>
          <a:xfrm>
            <a:off x="609600" y="462001"/>
            <a:ext cx="147465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DIAGRAMA CASO DE USO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408BBB5-F16D-7F7E-B84D-44217E112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633" y="2373491"/>
            <a:ext cx="8666025" cy="7589637"/>
          </a:xfrm>
          <a:prstGeom prst="rect">
            <a:avLst/>
          </a:prstGeom>
        </p:spPr>
      </p:pic>
      <p:pic>
        <p:nvPicPr>
          <p:cNvPr id="8" name="Google Shape;474;p30">
            <a:extLst>
              <a:ext uri="{FF2B5EF4-FFF2-40B4-BE49-F238E27FC236}">
                <a16:creationId xmlns:a16="http://schemas.microsoft.com/office/drawing/2014/main" id="{B342568D-67A0-9034-C26C-16C6FB46B50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6114" y="-1"/>
            <a:ext cx="2255224" cy="2031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156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42AB8700-EABE-2C1B-0294-0EAE50E1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3587C8-7B00-E8D7-E674-05940BD71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288" y="74667"/>
            <a:ext cx="11575424" cy="1013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66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CA08910B-6DCD-514A-98B3-5D14B7F8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81B9B2A8-9787-B6BB-7483-4BC42B1BFB43}"/>
              </a:ext>
            </a:extLst>
          </p:cNvPr>
          <p:cNvGrpSpPr/>
          <p:nvPr/>
        </p:nvGrpSpPr>
        <p:grpSpPr>
          <a:xfrm>
            <a:off x="0" y="-874608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738F2E5B-C031-8EAA-4036-7D9B681FD7A3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970C2F5A-EA46-1BA6-8DEF-0145F4B2831A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1AF30684-D3B8-7A49-619A-199F348165A4}"/>
              </a:ext>
            </a:extLst>
          </p:cNvPr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MOCKUPS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474;p30">
            <a:extLst>
              <a:ext uri="{FF2B5EF4-FFF2-40B4-BE49-F238E27FC236}">
                <a16:creationId xmlns:a16="http://schemas.microsoft.com/office/drawing/2014/main" id="{2A2876A3-BEAB-C32D-909B-9A5E3D69C6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6114" y="-1"/>
            <a:ext cx="2255224" cy="203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5976E4-FA44-1042-3C05-758490611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827" y="2847444"/>
            <a:ext cx="2690813" cy="56774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BF93447-D891-42A6-5D22-CEE8AC4C8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635" y="2847444"/>
            <a:ext cx="2887322" cy="567747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72E42B1-74B1-BC44-F0B8-FFF046696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149" y="2840718"/>
            <a:ext cx="2690814" cy="567747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A827662-4C86-5212-052A-D772FFD3AC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9125" y="2847444"/>
            <a:ext cx="2720746" cy="567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99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04F242BE-C6F8-CFC7-284F-7EF6588C4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4;p14">
            <a:extLst>
              <a:ext uri="{FF2B5EF4-FFF2-40B4-BE49-F238E27FC236}">
                <a16:creationId xmlns:a16="http://schemas.microsoft.com/office/drawing/2014/main" id="{9989285A-AE93-1B94-5E84-7E2C7E48659D}"/>
              </a:ext>
            </a:extLst>
          </p:cNvPr>
          <p:cNvGrpSpPr/>
          <p:nvPr/>
        </p:nvGrpSpPr>
        <p:grpSpPr>
          <a:xfrm>
            <a:off x="0" y="-874608"/>
            <a:ext cx="18621825" cy="3109809"/>
            <a:chOff x="-146009" y="815686"/>
            <a:chExt cx="4904514" cy="1056016"/>
          </a:xfrm>
        </p:grpSpPr>
        <p:sp>
          <p:nvSpPr>
            <p:cNvPr id="3" name="Google Shape;95;p14">
              <a:extLst>
                <a:ext uri="{FF2B5EF4-FFF2-40B4-BE49-F238E27FC236}">
                  <a16:creationId xmlns:a16="http://schemas.microsoft.com/office/drawing/2014/main" id="{8CA73325-F3BA-F96E-7D65-C23BACE97067}"/>
                </a:ext>
              </a:extLst>
            </p:cNvPr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96;p14">
              <a:extLst>
                <a:ext uri="{FF2B5EF4-FFF2-40B4-BE49-F238E27FC236}">
                  <a16:creationId xmlns:a16="http://schemas.microsoft.com/office/drawing/2014/main" id="{5B14FAFC-6FD4-09C5-D927-2EC468992A93}"/>
                </a:ext>
              </a:extLst>
            </p:cNvPr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61D0A92A-795D-C707-F9E2-49549508AB80}"/>
              </a:ext>
            </a:extLst>
          </p:cNvPr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DFC"/>
                </a:solidFill>
                <a:effectLst/>
                <a:uLnTx/>
                <a:uFillTx/>
                <a:latin typeface="Paytone One"/>
                <a:ea typeface="Paytone One"/>
                <a:cs typeface="Paytone One"/>
                <a:sym typeface="Paytone One"/>
              </a:rPr>
              <a:t>MOCKUPS II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672A5C-6E34-8A3A-3F8F-899E38B2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3" y="2921752"/>
            <a:ext cx="2896719" cy="607424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C1CE04B-4C01-B2D2-8D92-B318C5546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368" y="2934357"/>
            <a:ext cx="2896719" cy="604903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ACA52B5-0931-A02A-73D6-60E72BBE2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047" y="2983910"/>
            <a:ext cx="2861902" cy="607424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C3CFC4A-79A2-96BB-0569-CA8946207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2212" y="2959566"/>
            <a:ext cx="2896719" cy="6148139"/>
          </a:xfrm>
          <a:prstGeom prst="rect">
            <a:avLst/>
          </a:prstGeom>
        </p:spPr>
      </p:pic>
      <p:pic>
        <p:nvPicPr>
          <p:cNvPr id="18" name="image1.png">
            <a:extLst>
              <a:ext uri="{FF2B5EF4-FFF2-40B4-BE49-F238E27FC236}">
                <a16:creationId xmlns:a16="http://schemas.microsoft.com/office/drawing/2014/main" id="{F63E767C-9725-3F14-44B3-A8DA0740A36A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4801074" y="2921752"/>
            <a:ext cx="3135835" cy="6185953"/>
          </a:xfrm>
          <a:prstGeom prst="rect">
            <a:avLst/>
          </a:prstGeom>
          <a:ln/>
        </p:spPr>
      </p:pic>
      <p:pic>
        <p:nvPicPr>
          <p:cNvPr id="20" name="Google Shape;188;p18">
            <a:extLst>
              <a:ext uri="{FF2B5EF4-FFF2-40B4-BE49-F238E27FC236}">
                <a16:creationId xmlns:a16="http://schemas.microsoft.com/office/drawing/2014/main" id="{1EDE261E-BC2D-4F95-CC61-62F2841AFAA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597339">
            <a:off x="15134213" y="76753"/>
            <a:ext cx="1797331" cy="1819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025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4"/>
          <p:cNvGrpSpPr/>
          <p:nvPr/>
        </p:nvGrpSpPr>
        <p:grpSpPr>
          <a:xfrm>
            <a:off x="0" y="-874608"/>
            <a:ext cx="18621825" cy="3109809"/>
            <a:chOff x="-146009" y="815686"/>
            <a:chExt cx="4904514" cy="1056016"/>
          </a:xfrm>
        </p:grpSpPr>
        <p:sp>
          <p:nvSpPr>
            <p:cNvPr id="115" name="Google Shape;115;p4"/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4"/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s-MX" sz="6600" b="0" i="0" u="none" strike="noStrike" cap="none">
                <a:solidFill>
                  <a:srgbClr val="FFFDFC"/>
                </a:solidFill>
                <a:latin typeface="Paytone One"/>
                <a:ea typeface="Paytone One"/>
                <a:cs typeface="Paytone One"/>
                <a:sym typeface="Paytone One"/>
              </a:rPr>
              <a:t>DESAROLLO DEL FRONTED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6114" y="-1"/>
            <a:ext cx="2255224" cy="203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796737" y="2788176"/>
            <a:ext cx="1018950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Lenguaje y Framework Principal: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Desarrollado nativamente en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Kotlin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utilizando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Jetpack Compose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construir una interfaz de usuario moderna, reactiva y puramente declarativa</a:t>
            </a: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7864926" y="3912584"/>
            <a:ext cx="93120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 dirty="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Arquitectura de Software: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Implementa el </a:t>
            </a:r>
            <a:r>
              <a:rPr lang="es-MX" sz="2000" b="1" i="0" u="none" strike="noStrike" cap="none" dirty="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Patrón MVVM (Model - View - </a:t>
            </a:r>
            <a:r>
              <a:rPr lang="es-MX" sz="2000" b="1" i="0" u="none" strike="noStrike" cap="none" dirty="0" err="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ViewModel</a:t>
            </a:r>
            <a:r>
              <a:rPr lang="es-MX" sz="2000" b="1" i="0" u="none" strike="noStrike" cap="none" dirty="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)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, separando claramente la lógica de estado y de los componentes visuales de la interfaz de usuario.</a:t>
            </a:r>
            <a:endParaRPr sz="2000" b="0" i="0" u="none" strike="noStrike" cap="none" dirty="0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796737" y="5298346"/>
            <a:ext cx="93120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Inyección de Dependencias: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Utiliza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Dagger Hilt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inyectar servicios, APIs y repositorios en toda la aplicación, manteniendo el código modular y fácil de probar.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7788726" y="6496074"/>
            <a:ext cx="93120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Consumo de API: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Maneja las peticiones HTTP hacia el backend mediante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Retrofit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y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Gson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, incluyendo un interceptor automatizado que adjunta tokens de sesión por seguridad.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796737" y="7881836"/>
            <a:ext cx="93120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Librerías Visuales Clave: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*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YCharts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la visualización de datos estadísticos.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Coil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la carga asíncrona de los pósters de las películas.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5"/>
          <p:cNvGrpSpPr/>
          <p:nvPr/>
        </p:nvGrpSpPr>
        <p:grpSpPr>
          <a:xfrm>
            <a:off x="0" y="-877253"/>
            <a:ext cx="18621825" cy="3109809"/>
            <a:chOff x="-146009" y="815686"/>
            <a:chExt cx="4904514" cy="1056016"/>
          </a:xfrm>
        </p:grpSpPr>
        <p:sp>
          <p:nvSpPr>
            <p:cNvPr id="129" name="Google Shape;129;p5"/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5"/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s-MX" sz="6600" b="0" i="0" u="none" strike="noStrike" cap="none">
                <a:solidFill>
                  <a:srgbClr val="FFFDFC"/>
                </a:solidFill>
                <a:latin typeface="Paytone One"/>
                <a:ea typeface="Paytone One"/>
                <a:cs typeface="Paytone One"/>
                <a:sym typeface="Paytone One"/>
              </a:rPr>
              <a:t>DESARROLLO DEL BACKEND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97339">
            <a:off x="15468042" y="43891"/>
            <a:ext cx="1797331" cy="181933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7964020" y="8890558"/>
            <a:ext cx="93120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Optimización de Código: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Uso intensivo de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Lombok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automatizar la generación de código repetitivo y mantener los modelos de datos limpios.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33825" y="7367779"/>
            <a:ext cx="931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Servicios de Notificación: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Cuenta con un sistema de mensajería integrado para enviar correos electrónicos (útil para recuperación de contraseñas), preparado para funcionar tanto con servidores SMTP convencionales como con la plataforma profesional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SendGrid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8265636" y="5856333"/>
            <a:ext cx="931208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Integración de Catálogo (TMDB):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El backend actúa como intermediario con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The Movie Database (TMDB API)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poblar la aplicación con datos reales de películas, utilizando dependencias reactivas (Spring WebFlux) para agilizar las peticiones externas.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478971" y="4771198"/>
            <a:ext cx="93120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Seguridad: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Implementa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Spring Security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para manejar la autenticación, proteger las rutas de la API y asegurar que cada usuario solo acceda a sus propias listas y estadísticas.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8494317" y="3397520"/>
            <a:ext cx="931208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Base de Datos y Persistencia: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Emplea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PostgreSQL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como base de datos relacional. La interacción con los datos se gestiona mediante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Spring Data JPA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(Hibernate), permitiendo mapear la información de las películas y usuarios como objetos de Java.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478971" y="2689693"/>
            <a:ext cx="93120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Lenguaje y Framework Principal: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Construido con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Java 21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sobre el ecosistema de 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Spring Boot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, utilizando Spring Web MVC para exponer una API RESTful.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6"/>
          <p:cNvGrpSpPr/>
          <p:nvPr/>
        </p:nvGrpSpPr>
        <p:grpSpPr>
          <a:xfrm>
            <a:off x="0" y="-877253"/>
            <a:ext cx="18621825" cy="3109809"/>
            <a:chOff x="-146009" y="815686"/>
            <a:chExt cx="4904514" cy="1056016"/>
          </a:xfrm>
        </p:grpSpPr>
        <p:sp>
          <p:nvSpPr>
            <p:cNvPr id="144" name="Google Shape;144;p6"/>
            <p:cNvSpPr/>
            <p:nvPr/>
          </p:nvSpPr>
          <p:spPr>
            <a:xfrm>
              <a:off x="-146009" y="1023589"/>
              <a:ext cx="4816592" cy="848113"/>
            </a:xfrm>
            <a:custGeom>
              <a:avLst/>
              <a:gdLst/>
              <a:ahLst/>
              <a:cxnLst/>
              <a:rect l="l" t="t" r="r" b="b"/>
              <a:pathLst>
                <a:path w="4816592" h="84811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48113"/>
                  </a:lnTo>
                  <a:lnTo>
                    <a:pt x="0" y="848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-58088" y="815686"/>
              <a:ext cx="4816593" cy="91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8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6"/>
          <p:cNvSpPr txBox="1"/>
          <p:nvPr/>
        </p:nvSpPr>
        <p:spPr>
          <a:xfrm>
            <a:off x="478971" y="462000"/>
            <a:ext cx="147465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s-MX" sz="6600" b="0" i="0" u="none" strike="noStrike" cap="none">
                <a:solidFill>
                  <a:srgbClr val="FFFDFC"/>
                </a:solidFill>
                <a:latin typeface="Paytone One"/>
                <a:ea typeface="Paytone One"/>
                <a:cs typeface="Paytone One"/>
                <a:sym typeface="Paytone One"/>
              </a:rPr>
              <a:t>IMPLEMENTACION EN LA NUBE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6114" y="-1"/>
            <a:ext cx="2255224" cy="203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7977995" y="8499183"/>
            <a:ext cx="931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latin typeface="KoHo"/>
                <a:ea typeface="KoHo"/>
                <a:cs typeface="KoHo"/>
                <a:sym typeface="KoHo"/>
              </a:rPr>
              <a:t>Respaldo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Se creó una carpeta para respaldos en la instancia. Se instaló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CRON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y después se creo una tarea que crea un respaldo de la BD a las 3 AM todos los días.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333825" y="7465629"/>
            <a:ext cx="931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latin typeface="KoHo"/>
                <a:ea typeface="KoHo"/>
                <a:cs typeface="KoHo"/>
                <a:sym typeface="KoHo"/>
              </a:rPr>
              <a:t>Despliegue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: </a:t>
            </a:r>
            <a:r>
              <a:rPr lang="es-MX" sz="200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Se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 empaquetó el archivo como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JAR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con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Maven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. Posteriormente se subió a la instancia con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SCP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.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endParaRPr sz="2000" b="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8299361" y="5702583"/>
            <a:ext cx="931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>
                <a:latin typeface="KoHo"/>
                <a:ea typeface="KoHo"/>
                <a:cs typeface="KoHo"/>
                <a:sym typeface="KoHo"/>
              </a:rPr>
              <a:t>Variables de entorno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s-MX" sz="2000">
                <a:solidFill>
                  <a:schemeClr val="dk1"/>
                </a:solidFill>
                <a:latin typeface="KoHo"/>
                <a:ea typeface="KoHo"/>
                <a:cs typeface="KoHo"/>
                <a:sym typeface="KoHo"/>
              </a:rPr>
              <a:t>Se creó un archivo application-prod.properties que utiliza variables de entorno para las credenciales sensibles en lugar de valores hardcodeados. Se creo un archivo .service para almacenar las variables de entorno y configurar el servicio.</a:t>
            </a:r>
            <a:endParaRPr sz="2300"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78971" y="4814423"/>
            <a:ext cx="931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latin typeface="KoHo"/>
                <a:ea typeface="KoHo"/>
                <a:cs typeface="KoHo"/>
                <a:sym typeface="KoHo"/>
              </a:rPr>
              <a:t>Dependencias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Se instalaron las dependencias de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Java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y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PostgreSQL-Server.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Se creó y configuró la base de datos, creando un usuario que la administre.</a:t>
            </a:r>
            <a:endParaRPr sz="2000" i="0" u="none" strike="noStrike" cap="none">
              <a:solidFill>
                <a:srgbClr val="000000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8524217" y="3310670"/>
            <a:ext cx="931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>
                <a:latin typeface="KoHo"/>
                <a:ea typeface="KoHo"/>
                <a:cs typeface="KoHo"/>
                <a:sym typeface="KoHo"/>
              </a:rPr>
              <a:t>Instancia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Se crea una instancia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EC2,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con Amazon Linux. Se configuro un grupo de seguridad restringiendo las reglas de entrada, SSH para desarrollador, 8080 abirto para la api y 5432 interno para la BD. Se utilizó PowerShell con la llave PEM para ingresar a la instancia. Se configura una IP elástica.</a:t>
            </a:r>
            <a:endParaRPr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78971" y="2773543"/>
            <a:ext cx="931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latin typeface="KoHo"/>
                <a:ea typeface="KoHo"/>
                <a:cs typeface="KoHo"/>
                <a:sym typeface="KoHo"/>
              </a:rPr>
              <a:t>Servicio Cloud</a:t>
            </a:r>
            <a:r>
              <a:rPr lang="es-MX" sz="2000" b="1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:</a:t>
            </a:r>
            <a:r>
              <a:rPr lang="es-MX" sz="2000" b="0" i="0" u="none" strike="noStrike" cap="none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Se eligió </a:t>
            </a:r>
            <a:r>
              <a:rPr lang="es-MX" sz="2000" b="1">
                <a:latin typeface="KoHo"/>
                <a:ea typeface="KoHo"/>
                <a:cs typeface="KoHo"/>
                <a:sym typeface="KoHo"/>
              </a:rPr>
              <a:t>AWS</a:t>
            </a:r>
            <a:r>
              <a:rPr lang="es-MX" sz="2000">
                <a:latin typeface="KoHo"/>
                <a:ea typeface="KoHo"/>
                <a:cs typeface="KoHo"/>
                <a:sym typeface="KoHo"/>
              </a:rPr>
              <a:t> para la infraestructura cloud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19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8563559" y="3098800"/>
            <a:ext cx="8695741" cy="441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0"/>
              <a:buFont typeface="Arial"/>
              <a:buNone/>
            </a:pPr>
            <a:r>
              <a:rPr lang="es-MX" sz="17000" b="0" i="0" u="none" strike="noStrike" cap="none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THANK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0"/>
              <a:buFont typeface="Arial"/>
              <a:buNone/>
            </a:pPr>
            <a:r>
              <a:rPr lang="es-MX" sz="17000" b="0" i="0" u="none" strike="noStrike" cap="none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YOU!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3975" y="1391625"/>
            <a:ext cx="5948425" cy="75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marillo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Amari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1042</Words>
  <Application>Microsoft Office PowerPoint</Application>
  <PresentationFormat>Personalizado</PresentationFormat>
  <Paragraphs>72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KoHo</vt:lpstr>
      <vt:lpstr>Calibri</vt:lpstr>
      <vt:lpstr>Paytone One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Becerra Valenzuela</cp:lastModifiedBy>
  <cp:revision>3</cp:revision>
  <dcterms:modified xsi:type="dcterms:W3CDTF">2026-05-19T22:46:31Z</dcterms:modified>
</cp:coreProperties>
</file>